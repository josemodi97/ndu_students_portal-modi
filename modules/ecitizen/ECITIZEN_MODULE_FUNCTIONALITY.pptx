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548640"/>
            <a:ext cx="4754880" cy="4754880"/>
          </a:xfrm>
          <a:prstGeom prst="ellipse">
            <a:avLst/>
          </a:prstGeom>
          <a:solidFill>
            <a:srgbClr val="0D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20040"/>
            <a:ext cx="2560320" cy="2560320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1051560"/>
            <a:ext cx="1143000" cy="1143000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914400"/>
            <a:ext cx="109728" cy="429768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78992"/>
            <a:ext cx="8595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MODULE 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8778240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eCitizen Student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64992"/>
            <a:ext cx="77724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9D8E5"/>
                </a:solidFill>
                <a:latin typeface="Aptos"/>
              </a:defRPr>
            </a:pPr>
            <a:r>
              <a:t>From invoice creation to secure confirmation, fee crediting, SMIS posting, and ongoing reconciliation.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590288"/>
            <a:ext cx="3246120" cy="475488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45152"/>
            <a:ext cx="32461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SMIS Portal •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263640"/>
            <a:ext cx="77724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890A8"/>
                </a:solidFill>
                <a:latin typeface="Aptos"/>
              </a:defRPr>
            </a:pPr>
            <a:r>
              <a:t>modules/ecitizen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What the module does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697480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73152" cy="1874519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664207"/>
            <a:ext cx="23134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1C7B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56815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Creates 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14015"/>
            <a:ext cx="2331720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Builds student-specific payment requests from validated fee and service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17904"/>
            <a:ext cx="2697480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517904"/>
            <a:ext cx="73152" cy="1874519"/>
          </a:xfrm>
          <a:prstGeom prst="rect">
            <a:avLst/>
          </a:prstGeom>
          <a:solidFill>
            <a:srgbClr val="5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1664207"/>
            <a:ext cx="23134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EA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956815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Hosts 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414015"/>
            <a:ext cx="2331720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Sends a signed payload to the eCitizen/PesaFlow payment interface.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517904"/>
            <a:ext cx="2697480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1517904"/>
            <a:ext cx="73152" cy="187451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664207"/>
            <a:ext cx="23134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A78B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56815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Credits 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14015"/>
            <a:ext cx="2331720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Confirms successful payments and immediately reflects the credit on the portal ledger.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1517904"/>
            <a:ext cx="2331720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0304" y="1517904"/>
            <a:ext cx="73152" cy="1874519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664207"/>
            <a:ext cx="19476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86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1956815"/>
            <a:ext cx="19659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Syncs SMIS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414015"/>
            <a:ext cx="1965960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Completes banking-slip, receipt, and fee-payment posting in the core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30752"/>
            <a:ext cx="11045952" cy="2194560"/>
          </a:xfrm>
          <a:prstGeom prst="round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986784"/>
            <a:ext cx="27432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4846320" cy="8595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8FAFC"/>
                </a:solidFill>
                <a:latin typeface="Aptos"/>
              </a:defRPr>
            </a:pPr>
            <a:r>
              <a:t>Fast for the student.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8FAFC"/>
                </a:solidFill>
                <a:latin typeface="Aptos"/>
              </a:defRPr>
            </a:pPr>
            <a:r>
              <a:t>Controlled for finance.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4096512"/>
            <a:ext cx="0" cy="1298448"/>
          </a:xfrm>
          <a:prstGeom prst="line">
            <a:avLst/>
          </a:prstGeom>
          <a:ln w="1524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89320" y="4050791"/>
            <a:ext cx="5074920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8E5"/>
                </a:solidFill>
                <a:latin typeface="Aptos"/>
              </a:defRPr>
            </a:pPr>
            <a:r>
              <a:t>Portal-side credit provides immediate visibility.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8E5"/>
                </a:solidFill>
                <a:latin typeface="Aptos"/>
              </a:defRPr>
            </a:pPr>
            <a:r>
              <a:t>Background synchronization protects SMIS writes.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9D8E5"/>
                </a:solidFill>
                <a:latin typeface="Aptos"/>
              </a:defRPr>
            </a:pPr>
            <a:r>
              <a:t>Reconciliation checks settled payments again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How the components connect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508760" cy="1051560"/>
          </a:xfrm>
          <a:prstGeom prst="roundRect">
            <a:avLst/>
          </a:prstGeom>
          <a:solidFill>
            <a:srgbClr val="10243A"/>
          </a:solidFill>
          <a:ln>
            <a:solidFill>
              <a:srgbClr val="31C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02536"/>
            <a:ext cx="128930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86584"/>
            <a:ext cx="1289304" cy="4663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Invoice list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&amp;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81328"/>
            <a:ext cx="1874519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5E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609344"/>
            <a:ext cx="165506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PaymentController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993392"/>
            <a:ext cx="1655063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Web routes, access,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callbacks &amp;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429000"/>
            <a:ext cx="1874519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3557016"/>
            <a:ext cx="165506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PaymentService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41064"/>
            <a:ext cx="1655063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Validation, gateway,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ledger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96128" y="1481328"/>
            <a:ext cx="1874519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31C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05856" y="1609344"/>
            <a:ext cx="165506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eCitizen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1993392"/>
            <a:ext cx="1655063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Checkout, payment,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status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3429000"/>
            <a:ext cx="1874519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856" y="3557016"/>
            <a:ext cx="165506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Portal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6" y="3941064"/>
            <a:ext cx="1655063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Invoice state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immediate fee credit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429000"/>
            <a:ext cx="1874519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F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3557016"/>
            <a:ext cx="1655063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Cron commands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3941064"/>
            <a:ext cx="1655063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Posting sync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reconciliation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3429000"/>
            <a:ext cx="1097280" cy="1234440"/>
          </a:xfrm>
          <a:prstGeom prst="roundRect">
            <a:avLst/>
          </a:prstGeom>
          <a:solidFill>
            <a:srgbClr val="10243A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3557016"/>
            <a:ext cx="8778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SMIS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3941064"/>
            <a:ext cx="877824" cy="6492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9D8E5"/>
                </a:solidFill>
                <a:latin typeface="Aptos"/>
              </a:defRPr>
            </a:pPr>
            <a:r>
              <a:t>finance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03120" y="2286000"/>
            <a:ext cx="685800" cy="0"/>
          </a:xfrm>
          <a:prstGeom prst="line">
            <a:avLst/>
          </a:prstGeom>
          <a:ln w="19050">
            <a:solidFill>
              <a:srgbClr val="31C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63440" y="2084831"/>
            <a:ext cx="932687" cy="0"/>
          </a:xfrm>
          <a:prstGeom prst="line">
            <a:avLst/>
          </a:prstGeom>
          <a:ln w="19050">
            <a:solidFill>
              <a:srgbClr val="5E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37960" y="2715768"/>
            <a:ext cx="0" cy="713232"/>
          </a:xfrm>
          <a:prstGeom prst="line">
            <a:avLst/>
          </a:prstGeom>
          <a:ln w="19050">
            <a:solidFill>
              <a:srgbClr val="31C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63440" y="4050791"/>
            <a:ext cx="932687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70648" y="4050791"/>
            <a:ext cx="941832" cy="0"/>
          </a:xfrm>
          <a:prstGeom prst="line">
            <a:avLst/>
          </a:prstGeom>
          <a:ln w="19050">
            <a:solidFill>
              <a:srgbClr val="F4B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87000" y="4050791"/>
            <a:ext cx="228600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03320" y="2715768"/>
            <a:ext cx="0" cy="713232"/>
          </a:xfrm>
          <a:prstGeom prst="line">
            <a:avLst/>
          </a:prstGeom>
          <a:ln w="19050">
            <a:solidFill>
              <a:srgbClr val="5E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525780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Web requests do not post directly into SMIS finance tables; console context performs controlled core posting.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PAYMENT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From invoice to posted receipt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65960"/>
            <a:ext cx="530352" cy="530352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Student chooses a fee or service.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1288" y="2221992"/>
            <a:ext cx="1042416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231136" y="1965960"/>
            <a:ext cx="530352" cy="530352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5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Portal creates a pending reference.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98064" y="2221992"/>
            <a:ext cx="1042416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867912" y="1965960"/>
            <a:ext cx="530352" cy="530352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912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Checkout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Signed request opens eCitizen.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34840" y="2221992"/>
            <a:ext cx="1042416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504688" y="1965960"/>
            <a:ext cx="530352" cy="530352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Payer completes an available method.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71616" y="2221992"/>
            <a:ext cx="1042416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141464" y="1965960"/>
            <a:ext cx="530352" cy="530352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1464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Notify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Signed callback confirms payment.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8392" y="2221992"/>
            <a:ext cx="1042416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778240" y="1965960"/>
            <a:ext cx="530352" cy="53035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Credit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Portal fee statement updates.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45167" y="2221992"/>
            <a:ext cx="1042417" cy="0"/>
          </a:xfrm>
          <a:prstGeom prst="line">
            <a:avLst/>
          </a:prstGeom>
          <a:ln w="1905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415016" y="1965960"/>
            <a:ext cx="530352" cy="530352"/>
          </a:xfrm>
          <a:prstGeom prst="ellipse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5016" y="1993392"/>
            <a:ext cx="53035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32136" y="2651760"/>
            <a:ext cx="1417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8984" y="3072384"/>
            <a:ext cx="157276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Cron completes SMIS receipt records.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4736592"/>
            <a:ext cx="10771632" cy="804672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919472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Student-visible speed at step 6  •  finance-system completion at step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INVOICE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What the student sees—and when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536192"/>
            <a:ext cx="690372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C4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36192"/>
            <a:ext cx="6903720" cy="566928"/>
          </a:xfrm>
          <a:prstGeom prst="rect">
            <a:avLst/>
          </a:prstGeom>
          <a:solidFill>
            <a:srgbClr val="13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My eCitizen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423160"/>
            <a:ext cx="6336792" cy="530352"/>
          </a:xfrm>
          <a:prstGeom prst="rect">
            <a:avLst/>
          </a:prstGeom>
          <a:solidFill>
            <a:srgbClr val="E8F0F5"/>
          </a:solidFill>
          <a:ln>
            <a:solidFill>
              <a:srgbClr val="D2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532888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66276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532888"/>
            <a:ext cx="10241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6627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32888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66276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163824"/>
            <a:ext cx="15727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324A"/>
                </a:solidFill>
                <a:latin typeface="Aptos"/>
              </a:defRPr>
            </a:pPr>
            <a:r>
              <a:t>ECIT-…-731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3127248"/>
            <a:ext cx="1170432" cy="365760"/>
          </a:xfrm>
          <a:prstGeom prst="roundRect">
            <a:avLst/>
          </a:prstGeom>
          <a:solidFill>
            <a:srgbClr val="FFF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3154680"/>
            <a:ext cx="11704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A5410"/>
                </a:solidFill>
                <a:latin typeface="Aptos"/>
              </a:defRPr>
            </a:pPr>
            <a:r>
              <a:t>Not settled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3054096"/>
            <a:ext cx="1408176" cy="475488"/>
          </a:xfrm>
          <a:prstGeom prst="roundRect">
            <a:avLst/>
          </a:prstGeom>
          <a:solidFill>
            <a:srgbClr val="E8F2FF"/>
          </a:solidFill>
          <a:ln>
            <a:solidFill>
              <a:srgbClr val="6EA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3136392"/>
            <a:ext cx="140817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D5D91"/>
                </a:solidFill>
                <a:latin typeface="Aptos"/>
              </a:defRPr>
            </a:pPr>
            <a:r>
              <a:t>Pay this invoice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" y="4050791"/>
            <a:ext cx="6163056" cy="0"/>
          </a:xfrm>
          <a:prstGeom prst="line">
            <a:avLst/>
          </a:prstGeom>
          <a:ln w="12700">
            <a:solidFill>
              <a:srgbClr val="DD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4128" y="4462272"/>
            <a:ext cx="15727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8324A"/>
                </a:solidFill>
                <a:latin typeface="Aptos"/>
              </a:defRPr>
            </a:pPr>
            <a:r>
              <a:t>ECIT-…-408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1488" y="4425696"/>
            <a:ext cx="1170432" cy="365760"/>
          </a:xfrm>
          <a:prstGeom prst="roundRect">
            <a:avLst/>
          </a:prstGeom>
          <a:solidFill>
            <a:srgbClr val="DF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4453128"/>
            <a:ext cx="11704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46B57"/>
                </a:solidFill>
                <a:latin typeface="Aptos"/>
              </a:defRPr>
            </a:pPr>
            <a:r>
              <a:t>Settled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46227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890A8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2127" y="1536192"/>
            <a:ext cx="3703320" cy="1481328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2127" y="1536192"/>
            <a:ext cx="73152" cy="148132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3" y="1682495"/>
            <a:ext cx="33192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B7185"/>
                </a:solidFill>
                <a:latin typeface="Aptos"/>
              </a:defRPr>
            </a:pPr>
            <a:r>
              <a:t>UI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1975104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Manual button 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2432304"/>
            <a:ext cx="33375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“Complete payment” was a status-query fallback—not the normal confirmation mechanism.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3255264"/>
            <a:ext cx="3703320" cy="1225296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82127" y="3255264"/>
            <a:ext cx="73152" cy="1225296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3401568"/>
            <a:ext cx="33192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1C7B5"/>
                </a:solidFill>
                <a:latin typeface="Aptos"/>
              </a:defRPr>
            </a:pPr>
            <a:r>
              <a:t>NORMAL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694176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Notification-driven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151376"/>
            <a:ext cx="3337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A valid signed callback credits the payment automatically.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4718304"/>
            <a:ext cx="3703320" cy="1298448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82127" y="4718304"/>
            <a:ext cx="73152" cy="1298448"/>
          </a:xfrm>
          <a:prstGeom prst="rect">
            <a:avLst/>
          </a:prstGeom>
          <a:solidFill>
            <a:srgbClr val="5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1583" y="4864608"/>
            <a:ext cx="33192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5EA7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157216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Actions disappear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614416"/>
            <a:ext cx="3337560" cy="2926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Credited or settled invoices no longer present payment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Trust is established before money moves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90472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1746504"/>
            <a:ext cx="457200" cy="457200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655063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Signed payloads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79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HMAC protects checkout and notification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90472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55664" y="1746504"/>
            <a:ext cx="457200" cy="457200"/>
          </a:xfrm>
          <a:prstGeom prst="ellipse">
            <a:avLst/>
          </a:prstGeom>
          <a:solidFill>
            <a:srgbClr val="5E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655063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Server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011679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Reference, paid amount, date, and final status must agree.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" y="3227832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136392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Student-bound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Invoice identifiers are encrypted and tied to the logged-in student.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971800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55664" y="3227832"/>
            <a:ext cx="457200" cy="457200"/>
          </a:xfrm>
          <a:prstGeom prst="ellipse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3136392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Controlled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493008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POST-only actions, CSRF controls, and rate limits reduce abuse.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53128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470916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617720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Trusted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74336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HTTPS and allowed gateway hosts constrain outbound calls.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4453128"/>
            <a:ext cx="5321808" cy="1188720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55664" y="470916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4617720"/>
            <a:ext cx="42245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Idempotent writes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974336"/>
            <a:ext cx="422452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Reference and transaction checks prevent duplicate credits and receipts.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POSTING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Two stages, one payment reference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065776" cy="4407408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10512"/>
            <a:ext cx="444398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78BFA"/>
                </a:solidFill>
                <a:latin typeface="Aptos"/>
              </a:defRPr>
            </a:pPr>
            <a:r>
              <a:t>STAGE 1  •  IMMEDIATE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443984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8FAFC"/>
                </a:solidFill>
                <a:latin typeface="Aptos"/>
              </a:defRPr>
            </a:pPr>
            <a:r>
              <a:t>Portal fee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4370832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Validated callback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eCitizen status: Credited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sync_status: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portal CR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892040"/>
            <a:ext cx="4370832" cy="548640"/>
          </a:xfrm>
          <a:prstGeom prst="roundRect">
            <a:avLst/>
          </a:prstGeom>
          <a:solidFill>
            <a:srgbClr val="2A2450"/>
          </a:solidFill>
          <a:ln>
            <a:solidFill>
              <a:srgbClr val="594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992624"/>
            <a:ext cx="437083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Student sees the credit promptly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3703320"/>
            <a:ext cx="749808" cy="0"/>
          </a:xfrm>
          <a:prstGeom prst="line">
            <a:avLst/>
          </a:prstGeom>
          <a:ln w="27940">
            <a:solidFill>
              <a:srgbClr val="F4B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73952" y="1554480"/>
            <a:ext cx="5065776" cy="4407408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10512"/>
            <a:ext cx="444398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4B860"/>
                </a:solidFill>
                <a:latin typeface="Aptos"/>
              </a:defRPr>
            </a:pPr>
            <a:r>
              <a:t>STAGE 2  •  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212848"/>
            <a:ext cx="4443984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8FAFC"/>
                </a:solidFill>
                <a:latin typeface="Aptos"/>
              </a:defRPr>
            </a:pPr>
            <a:r>
              <a:t>Core SMIS posting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80360"/>
            <a:ext cx="4370832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ecitizen-sync/sync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banking slip: POSTED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fee transaction +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receipt number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→ status: Settled / sync_status: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892040"/>
            <a:ext cx="4370832" cy="548640"/>
          </a:xfrm>
          <a:prstGeom prst="roundRect">
            <a:avLst/>
          </a:prstGeom>
          <a:solidFill>
            <a:srgbClr val="493619"/>
          </a:solidFill>
          <a:ln>
            <a:solidFill>
              <a:srgbClr val="8A5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992624"/>
            <a:ext cx="437083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Finance records complete safely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STATE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How invoice states drive behaviour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1965960" cy="6949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45336"/>
            <a:ext cx="19659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444752"/>
            <a:ext cx="5806440" cy="694944"/>
          </a:xfrm>
          <a:prstGeom prst="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545336"/>
            <a:ext cx="5440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8E5"/>
                </a:solidFill>
                <a:latin typeface="Aptos"/>
              </a:defRPr>
            </a:pPr>
            <a:r>
              <a:t>Invoice exists; payment not confirmed.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51392" y="1444752"/>
            <a:ext cx="2670048" cy="694944"/>
          </a:xfrm>
          <a:prstGeom prst="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545336"/>
            <a:ext cx="267004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Pay this invoice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386584"/>
            <a:ext cx="1965960" cy="694944"/>
          </a:xfrm>
          <a:prstGeom prst="rect">
            <a:avLst/>
          </a:prstGeom>
          <a:solidFill>
            <a:srgbClr val="59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87168"/>
            <a:ext cx="19659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Credited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2386584"/>
            <a:ext cx="5806440" cy="694944"/>
          </a:xfrm>
          <a:prstGeom prst="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487168"/>
            <a:ext cx="5440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8E5"/>
                </a:solidFill>
                <a:latin typeface="Aptos"/>
              </a:defRPr>
            </a:pPr>
            <a:r>
              <a:t>Portal CR exists; SMIS sync is queued.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51392" y="2386584"/>
            <a:ext cx="2670048" cy="694944"/>
          </a:xfrm>
          <a:prstGeom prst="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1392" y="2487168"/>
            <a:ext cx="267004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No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28416"/>
            <a:ext cx="1965960" cy="694944"/>
          </a:xfrm>
          <a:prstGeom prst="rect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429000"/>
            <a:ext cx="19659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Settled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328416"/>
            <a:ext cx="5806440" cy="694944"/>
          </a:xfrm>
          <a:prstGeom prst="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429000"/>
            <a:ext cx="5440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8E5"/>
                </a:solidFill>
                <a:latin typeface="Aptos"/>
              </a:defRPr>
            </a:pPr>
            <a:r>
              <a:t>Core posting completed successfully.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1392" y="3328416"/>
            <a:ext cx="2670048" cy="694944"/>
          </a:xfrm>
          <a:prstGeom prst="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3429000"/>
            <a:ext cx="267004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No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70248"/>
            <a:ext cx="1965960" cy="694944"/>
          </a:xfrm>
          <a:prstGeom prst="rect">
            <a:avLst/>
          </a:prstGeom>
          <a:solidFill>
            <a:srgbClr val="8A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370832"/>
            <a:ext cx="19659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Sync failed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0248"/>
            <a:ext cx="5806440" cy="694944"/>
          </a:xfrm>
          <a:prstGeom prst="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4370832"/>
            <a:ext cx="5440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8E5"/>
                </a:solidFill>
                <a:latin typeface="Aptos"/>
              </a:defRPr>
            </a:pPr>
            <a:r>
              <a:t>Posting needs operational retry or investigation.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1392" y="4270248"/>
            <a:ext cx="2670048" cy="694944"/>
          </a:xfrm>
          <a:prstGeom prst="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51392" y="4370832"/>
            <a:ext cx="267004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Admin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12080"/>
            <a:ext cx="1965960" cy="694944"/>
          </a:xfrm>
          <a:prstGeom prst="rect">
            <a:avLst/>
          </a:prstGeom>
          <a:solidFill>
            <a:srgbClr val="8B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312664"/>
            <a:ext cx="196596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Review required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16352" y="5212080"/>
            <a:ext cx="5806440" cy="694944"/>
          </a:xfrm>
          <a:prstGeom prst="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5312664"/>
            <a:ext cx="5440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8E5"/>
                </a:solidFill>
                <a:latin typeface="Aptos"/>
              </a:defRPr>
            </a:pPr>
            <a:r>
              <a:t>Explicit matched reversal/refund was detected.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51392" y="5212080"/>
            <a:ext cx="2670048" cy="694944"/>
          </a:xfrm>
          <a:prstGeom prst="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5312664"/>
            <a:ext cx="267004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1C7B5"/>
                </a:solidFill>
                <a:latin typeface="Aptos"/>
              </a:defRPr>
            </a:pPr>
            <a:r>
              <a:t>Finance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Settled payments are checked again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72800" cy="603504"/>
          </a:xfrm>
          <a:prstGeom prst="roundRect">
            <a:avLst/>
          </a:prstGeom>
          <a:solidFill>
            <a:srgbClr val="0D3541"/>
          </a:solidFill>
          <a:ln>
            <a:solidFill>
              <a:srgbClr val="1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1051560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Every 15 minutes  •  batches of 100  •  each row normally no more than once per 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15184"/>
            <a:ext cx="2359152" cy="1335024"/>
          </a:xfrm>
          <a:prstGeom prst="roundRect">
            <a:avLst/>
          </a:prstGeom>
          <a:solidFill>
            <a:srgbClr val="10243A"/>
          </a:solidFill>
          <a:ln>
            <a:solidFill>
              <a:srgbClr val="1D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2770632"/>
            <a:ext cx="384048" cy="384048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788920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724912"/>
            <a:ext cx="1591056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Select due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55264"/>
            <a:ext cx="201168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Oldest check first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90672" y="3255264"/>
            <a:ext cx="393192" cy="0"/>
          </a:xfrm>
          <a:prstGeom prst="line">
            <a:avLst/>
          </a:prstGeom>
          <a:ln w="19050">
            <a:solidFill>
              <a:srgbClr val="31C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02152" y="2615184"/>
            <a:ext cx="2359152" cy="1335024"/>
          </a:xfrm>
          <a:prstGeom prst="roundRect">
            <a:avLst/>
          </a:prstGeom>
          <a:solidFill>
            <a:srgbClr val="10243A"/>
          </a:solidFill>
          <a:ln>
            <a:solidFill>
              <a:srgbClr val="1D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48456" y="2770632"/>
            <a:ext cx="384048" cy="384048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8456" y="2788920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724912"/>
            <a:ext cx="1591056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Query eCitizen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255264"/>
            <a:ext cx="201168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Payment-status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79592" y="3255264"/>
            <a:ext cx="393191" cy="0"/>
          </a:xfrm>
          <a:prstGeom prst="line">
            <a:avLst/>
          </a:prstGeom>
          <a:ln w="19050">
            <a:solidFill>
              <a:srgbClr val="31C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91072" y="2615184"/>
            <a:ext cx="2359152" cy="1335024"/>
          </a:xfrm>
          <a:prstGeom prst="roundRect">
            <a:avLst/>
          </a:prstGeom>
          <a:solidFill>
            <a:srgbClr val="10243A"/>
          </a:solidFill>
          <a:ln>
            <a:solidFill>
              <a:srgbClr val="1D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2770632"/>
            <a:ext cx="384048" cy="384048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788920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724912"/>
            <a:ext cx="1591056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Match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255264"/>
            <a:ext cx="201168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Status + reference + amount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68512" y="3255264"/>
            <a:ext cx="393192" cy="0"/>
          </a:xfrm>
          <a:prstGeom prst="line">
            <a:avLst/>
          </a:prstGeom>
          <a:ln w="19050">
            <a:solidFill>
              <a:srgbClr val="31C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79991" y="2615184"/>
            <a:ext cx="2359152" cy="1335024"/>
          </a:xfrm>
          <a:prstGeom prst="roundRect">
            <a:avLst/>
          </a:prstGeom>
          <a:solidFill>
            <a:srgbClr val="10243A"/>
          </a:solidFill>
          <a:ln>
            <a:solidFill>
              <a:srgbClr val="1D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26295" y="2770632"/>
            <a:ext cx="384048" cy="384048"/>
          </a:xfrm>
          <a:prstGeom prst="ellipse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5" y="2788920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1" y="2724912"/>
            <a:ext cx="1591056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Record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3" y="3255264"/>
            <a:ext cx="201168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8E5"/>
                </a:solidFill>
                <a:latin typeface="Aptos"/>
              </a:defRPr>
            </a:pPr>
            <a:r>
              <a:t>Audit fields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617720"/>
            <a:ext cx="2450592" cy="384048"/>
          </a:xfrm>
          <a:prstGeom prst="roundRect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626864"/>
            <a:ext cx="2450592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CONFIRMED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76472" y="4617720"/>
            <a:ext cx="2450592" cy="384048"/>
          </a:xfrm>
          <a:prstGeom prst="roundRect">
            <a:avLst/>
          </a:prstGeom>
          <a:solidFill>
            <a:srgbClr val="8B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6472" y="4626864"/>
            <a:ext cx="2450592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REVIEW_REQUIRED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92824" y="4617720"/>
            <a:ext cx="2450592" cy="384048"/>
          </a:xfrm>
          <a:prstGeom prst="roundRect">
            <a:avLst/>
          </a:prstGeom>
          <a:solidFill>
            <a:srgbClr val="665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4626864"/>
            <a:ext cx="2450592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UNKNOWN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09176" y="4617720"/>
            <a:ext cx="1828800" cy="384048"/>
          </a:xfrm>
          <a:prstGeom prst="roundRect">
            <a:avLst/>
          </a:prstGeom>
          <a:solidFill>
            <a:srgbClr val="71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9176" y="4626864"/>
            <a:ext cx="1828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148072"/>
            <a:ext cx="104698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Only a recognized reversal/refund with an exact reference and amount match can raise review_required. Everything else is non-financial.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REVERSAL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Detection is automated; de-crediting is not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5212080" cy="4462272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73936"/>
            <a:ext cx="44988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WHAT HAPPENS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94560"/>
            <a:ext cx="4498848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8FAFC"/>
                </a:solidFill>
                <a:latin typeface="Aptos"/>
              </a:defRPr>
            </a:pPr>
            <a:r>
              <a:t>Safe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926080"/>
            <a:ext cx="4498848" cy="2029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✓ Explicit reversal/refund recognized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✓ Reference and amount must match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✓ Payload stored for audit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✓ review_required remains sticky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✓ Existing payment stays intact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99616"/>
            <a:ext cx="5394960" cy="4462272"/>
          </a:xfrm>
          <a:prstGeom prst="roundRect">
            <a:avLst/>
          </a:prstGeom>
          <a:solidFill>
            <a:srgbClr val="2B1821"/>
          </a:solidFill>
          <a:ln>
            <a:solidFill>
              <a:srgbClr val="71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73936"/>
            <a:ext cx="4663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B7185"/>
                </a:solidFill>
                <a:latin typeface="Aptos"/>
              </a:defRPr>
            </a:pPr>
            <a:r>
              <a:t>WHAT DOES NOT HAPPEN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46634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8FAFC"/>
                </a:solidFill>
                <a:latin typeface="Aptos"/>
              </a:defRPr>
            </a:pPr>
            <a:r>
              <a:t>No automatic ledger reversal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26080"/>
            <a:ext cx="4663440" cy="20299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× No CR deletion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× No automatic DR creation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× No receipt cancellation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× No banking-slip mutation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9D8E5"/>
                </a:solidFill>
                <a:latin typeface="Aptos"/>
              </a:defRPr>
            </a:pPr>
            <a:r>
              <a:t>× No change to local Settled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5504688"/>
            <a:ext cx="9189720" cy="420624"/>
          </a:xfrm>
          <a:prstGeom prst="roundRect">
            <a:avLst/>
          </a:prstGeom>
          <a:solidFill>
            <a:srgbClr val="493619"/>
          </a:solidFill>
          <a:ln>
            <a:solidFill>
              <a:srgbClr val="8A5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5541264"/>
            <a:ext cx="91897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Reason: the institution-approved accounting reversal procedure still needs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Commands, logs, and audit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401568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1874519"/>
          </a:xfrm>
          <a:prstGeom prst="rect">
            <a:avLst/>
          </a:prstGeom>
          <a:solidFill>
            <a:srgbClr val="F4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4B860"/>
                </a:solidFill>
                <a:latin typeface="Aptos"/>
              </a:defRPr>
            </a:pPr>
            <a:r>
              <a:t>POSTING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01952"/>
            <a:ext cx="3035808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Every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59152"/>
            <a:ext cx="3035808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yii ecitizen-sync/sync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Log: runtime/logs/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ecitizen-sync.log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401568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73152" cy="1874519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609344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31C7B5"/>
                </a:solidFill>
                <a:latin typeface="Aptos"/>
              </a:defRPr>
            </a:pPr>
            <a:r>
              <a:t>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01952"/>
            <a:ext cx="3035808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Every 15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59152"/>
            <a:ext cx="3035808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yii ecitizen-sync/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reconcile-settled 100 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Log: ecitizen-reconciliation.log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401568" cy="1874519"/>
          </a:xfrm>
          <a:prstGeom prst="roundRect">
            <a:avLst/>
          </a:prstGeom>
          <a:solidFill>
            <a:srgbClr val="10243A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73152" cy="1874519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1609344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B7185"/>
                </a:solidFill>
                <a:latin typeface="Aptos"/>
              </a:defRPr>
            </a:pPr>
            <a:r>
              <a:t>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901952"/>
            <a:ext cx="3035808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Review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359152"/>
            <a:ext cx="3035808" cy="8686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Filter smisportal.ecitizen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where reconciliation_status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9D8E5"/>
                </a:solidFill>
                <a:latin typeface="Aptos"/>
              </a:defRPr>
            </a:pPr>
            <a:r>
              <a:t>= 'review_required'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0899648" cy="2048256"/>
          </a:xfrm>
          <a:prstGeom prst="roundRect">
            <a:avLst/>
          </a:prstGeom>
          <a:solidFill>
            <a:srgbClr val="0D1F31"/>
          </a:solidFill>
          <a:ln>
            <a:solidFill>
              <a:srgbClr val="1D3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31920"/>
            <a:ext cx="246888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RECONCILIATION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370832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07408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remote_status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4370832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407408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reconciliation_status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18704" y="4370832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4407408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last_status_checked_at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" y="4956048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92624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status_check_error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4956048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992624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last_status_response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18704" y="4956048"/>
            <a:ext cx="3154680" cy="393192"/>
          </a:xfrm>
          <a:prstGeom prst="roundRect">
            <a:avLst/>
          </a:prstGeom>
          <a:solidFill>
            <a:srgbClr val="142B40"/>
          </a:solidFill>
          <a:ln>
            <a:solidFill>
              <a:srgbClr val="284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1856" y="4992624"/>
            <a:ext cx="299923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D8E5"/>
                </a:solidFill>
                <a:latin typeface="Aptos"/>
              </a:defRPr>
            </a:pPr>
            <a:r>
              <a:t>reversal_detected_at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1C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3291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What protects current functionality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25296"/>
            <a:ext cx="11109960" cy="0"/>
          </a:xfrm>
          <a:prstGeom prst="line">
            <a:avLst/>
          </a:prstGeom>
          <a:ln w="12700">
            <a:solidFill>
              <a:srgbClr val="1D3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890A8"/>
                </a:solidFill>
                <a:latin typeface="Aptos"/>
              </a:defRPr>
            </a:pPr>
            <a:r>
              <a:t>SMIS Portal  •  eCitizen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83096"/>
            <a:ext cx="530352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5230368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8FAFC"/>
                </a:solidFill>
                <a:latin typeface="Aptos"/>
              </a:defRPr>
            </a:pPr>
            <a:r>
              <a:t>The reconciliation feature complements the module—it does not replace the payment path.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523744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1460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487168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Existing callback flow unchanged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182111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72968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145535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Existing posting cron unchanged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840479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31335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803903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Additive database migration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498848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9704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4462272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Separate bounded reconciliation job</a:t>
            </a:r>
          </a:p>
        </p:txBody>
      </p:sp>
      <p:sp>
        <p:nvSpPr>
          <p:cNvPr id="21" name="Oval 20"/>
          <p:cNvSpPr/>
          <p:nvPr/>
        </p:nvSpPr>
        <p:spPr>
          <a:xfrm>
            <a:off x="6373368" y="2523744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514600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487168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No financial mutation on ambiguity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3182111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172968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145535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8 focused safety tests passing</a:t>
            </a:r>
          </a:p>
        </p:txBody>
      </p:sp>
      <p:sp>
        <p:nvSpPr>
          <p:cNvPr id="27" name="Oval 26"/>
          <p:cNvSpPr/>
          <p:nvPr/>
        </p:nvSpPr>
        <p:spPr>
          <a:xfrm>
            <a:off x="6373368" y="3840479"/>
            <a:ext cx="310896" cy="310896"/>
          </a:xfrm>
          <a:prstGeom prst="ellipse">
            <a:avLst/>
          </a:prstGeom>
          <a:solidFill>
            <a:srgbClr val="1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831335"/>
            <a:ext cx="3108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803903"/>
            <a:ext cx="48006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D8E5"/>
                </a:solidFill>
                <a:latin typeface="Aptos"/>
              </a:defRPr>
            </a:pPr>
            <a:r>
              <a:t>Live SETTLED smoke test confirmed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4498848"/>
            <a:ext cx="4956048" cy="1097280"/>
          </a:xfrm>
          <a:prstGeom prst="roundRect">
            <a:avLst/>
          </a:prstGeom>
          <a:solidFill>
            <a:srgbClr val="0D3541"/>
          </a:solidFill>
          <a:ln>
            <a:solidFill>
              <a:srgbClr val="1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663440"/>
            <a:ext cx="440740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1C7B5"/>
                </a:solidFill>
                <a:latin typeface="Aptos"/>
              </a:defRPr>
            </a:pPr>
            <a:r>
              <a:t>CORE 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010912"/>
            <a:ext cx="444398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Confirm → Credit → Post → Reconfirm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eCitizen Module Functionality</dc:title>
  <dc:subject>SMIS Portal payment workflow</dc:subject>
  <dc:creator>SMIS Portal</dc:creator>
  <cp:keywords>eCitizen, SMIS, payment, reconciliation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